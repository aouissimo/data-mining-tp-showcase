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FDBFE"/>
                </a:solidFill>
                <a:latin typeface="Aptos"/>
              </a:defRPr>
            </a:pPr>
            <a:r>
              <a:t>DATA MINING RESEARCH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7223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Interactive ID3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0604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2E8F0"/>
                </a:solidFill>
                <a:latin typeface="Aptos"/>
              </a:defRPr>
            </a:pPr>
            <a:r>
              <a:t>Implementing Knowledge Discovery and Interactive Visualization for Supervised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2044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Aptos"/>
              </a:defRPr>
            </a:pPr>
            <a:r>
              <a:t>Project Verification: Complete - Data Mining Research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097280"/>
            <a:ext cx="3063240" cy="3931920"/>
          </a:xfrm>
          <a:prstGeom prst="roundRect">
            <a:avLst/>
          </a:prstGeom>
          <a:solidFill>
            <a:srgbClr val="111827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508760"/>
            <a:ext cx="2514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FDBFE"/>
                </a:solidFill>
                <a:latin typeface="Consolas"/>
              </a:defRPr>
            </a:pPr>
            <a:r>
              <a:t>ID3</a:t>
            </a:r>
          </a:p>
          <a:p>
            <a:r>
              <a:t>|- Gain</a:t>
            </a:r>
          </a:p>
          <a:p>
            <a:r>
              <a:t>|  |- Leaf</a:t>
            </a:r>
          </a:p>
          <a:p>
            <a:r>
              <a:t>|  |- Leaf</a:t>
            </a:r>
          </a:p>
          <a:p>
            <a:r>
              <a:t>|- Tree</a:t>
            </a:r>
          </a:p>
          <a:p>
            <a:r>
              <a:t>   |- Leaf</a:t>
            </a:r>
          </a:p>
          <a:p>
            <a:r>
              <a:t>   |- Leaf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FDBFE"/>
                </a:solidFill>
                <a:latin typeface="Aptos"/>
              </a:defRPr>
            </a:pPr>
            <a:r>
              <a:t>SLIDE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FDBFE"/>
                </a:solidFill>
                <a:latin typeface="Aptos"/>
              </a:defRPr>
            </a:pPr>
            <a:r>
              <a:t>Bridging Raw Data and Interpretable Machine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59152"/>
            <a:ext cx="10835640" cy="3657600"/>
          </a:xfrm>
          <a:prstGeom prst="roundRect">
            <a:avLst/>
          </a:prstGeom>
          <a:solidFill>
            <a:srgbClr val="111827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33472"/>
            <a:ext cx="10241280" cy="3063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This project presents a robust implementation of the ID3 (Iterative Dichotomiser 3) algorithm inside an interactive dashboard.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As part of the Knowledge Discovery in Databases (KDD) process, the application transforms raw records into transparent decision trees.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Key focus areas: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  - Algorithmic integrity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  - Data preprocessing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  - Visual clarity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Outcome: A working tool that combines theory, code, and visualization.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2179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FDBFE"/>
                </a:solidFill>
                <a:latin typeface="Consolas"/>
              </a:defRPr>
            </a:pPr>
            <a:r>
              <a:t>02/09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FDBFE"/>
                </a:solidFill>
                <a:latin typeface="Aptos"/>
              </a:defRPr>
            </a:pPr>
            <a:r>
              <a:t>SLIDE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ptos Display"/>
              </a:defRPr>
            </a:pPr>
            <a:r>
              <a:t>Recursive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FDBFE"/>
                </a:solidFill>
                <a:latin typeface="Aptos"/>
              </a:defRPr>
            </a:pPr>
            <a:r>
              <a:t>Information Gain and Shannon Entropy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59152"/>
            <a:ext cx="10835640" cy="3657600"/>
          </a:xfrm>
          <a:prstGeom prst="roundRect">
            <a:avLst/>
          </a:prstGeom>
          <a:solidFill>
            <a:srgbClr val="111827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33472"/>
            <a:ext cx="10241280" cy="3063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The ID3 algorithm recursively partitions the dataset using Information Gain.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At each step, the attribute that reduces uncertainty the most becomes the splitting node.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Core Formula: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  - Entropy(S) = - sum( p_i * log2(p_i) )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Weather Case Study: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  - The base entropy is calculated from 14 Play = Yes/No records.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  - Outlook, Temperature, Humidity, and Wind are evaluated.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  - Outlook gives the highest information gain and becomes the root.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  - For Outlook = Overcast, entropy becomes 0, so the result is immediately Yes.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2179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FDBFE"/>
                </a:solidFill>
                <a:latin typeface="Consolas"/>
              </a:defRPr>
            </a:pPr>
            <a:r>
              <a:t>03/09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FDBFE"/>
                </a:solidFill>
                <a:latin typeface="Aptos"/>
              </a:defRPr>
            </a:pPr>
            <a:r>
              <a:t>SLIDE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ptos Display"/>
              </a:defRPr>
            </a:pPr>
            <a:r>
              <a:t>Technical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FDBFE"/>
                </a:solidFill>
                <a:latin typeface="Aptos"/>
              </a:defRPr>
            </a:pPr>
            <a:r>
              <a:t>Program Used in the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59152"/>
            <a:ext cx="10835640" cy="3657600"/>
          </a:xfrm>
          <a:prstGeom prst="roundRect">
            <a:avLst/>
          </a:prstGeom>
          <a:solidFill>
            <a:srgbClr val="111827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33472"/>
            <a:ext cx="10241280" cy="3063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Real-time Engine: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  - Vite for development and build speed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  - React for the interactive user interface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  - TypeScript for type-safe application logic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Visualization Layer: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  - React Flow for graph rendering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  - D3 Hierarchy for tree layout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  - Framer Motion for interface polish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Why this matters: The stack supports live interaction, clean code organization, and visual explanation of the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2179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FDBFE"/>
                </a:solidFill>
                <a:latin typeface="Consolas"/>
              </a:defRPr>
            </a:pPr>
            <a:r>
              <a:t>04/09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FDBFE"/>
                </a:solidFill>
                <a:latin typeface="Aptos"/>
              </a:defRPr>
            </a:pPr>
            <a:r>
              <a:t>SLIDE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ptos Display"/>
              </a:defRPr>
            </a:pPr>
            <a:r>
              <a:t>Implementation in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FDBFE"/>
                </a:solidFill>
                <a:latin typeface="Aptos"/>
              </a:defRPr>
            </a:pPr>
            <a:r>
              <a:t>How the Application Is Organized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59152"/>
            <a:ext cx="10835640" cy="3657600"/>
          </a:xfrm>
          <a:prstGeom prst="roundRect">
            <a:avLst/>
          </a:prstGeom>
          <a:solidFill>
            <a:srgbClr val="111827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33472"/>
            <a:ext cx="10241280" cy="3063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src/App.tsx: Manages dataset selection, preprocessing controls, tabs, and model training.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src/utils/preprocessing.ts: Implements missing-value handling, normalization, and discretization.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src/utils/id3-core.ts: Contains entropy, information gain, recursive tree generation, and prediction logic.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src/components/TreeVisualizer.tsx: Renders the generated decision tree as an interactive graph.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Result: The code structure mirrors the KDD stages described in the technical report.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2179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FDBFE"/>
                </a:solidFill>
                <a:latin typeface="Consolas"/>
              </a:defRPr>
            </a:pPr>
            <a:r>
              <a:t>05/09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FDBFE"/>
                </a:solidFill>
                <a:latin typeface="Aptos"/>
              </a:defRPr>
            </a:pPr>
            <a:r>
              <a:t>SLIDE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ptos Display"/>
              </a:defRPr>
            </a:pPr>
            <a:r>
              <a:t>Dataset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FDBFE"/>
                </a:solidFill>
                <a:latin typeface="Aptos"/>
              </a:defRPr>
            </a:pPr>
            <a:r>
              <a:t>Validation Dataset and Real-World Sample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59152"/>
            <a:ext cx="10835640" cy="3657600"/>
          </a:xfrm>
          <a:prstGeom prst="roundRect">
            <a:avLst/>
          </a:prstGeom>
          <a:solidFill>
            <a:srgbClr val="111827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33472"/>
            <a:ext cx="10241280" cy="3063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Weather (Play Tennis):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  - A classic 14-record dataset used to validate classification logic.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  - Includes 4 categorical attributes and 1 binary target.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Titanic Survival: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  - A sample of passenger data with missing values and continuous Age data.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  - Requires preprocessing before decision-tree mining.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Transformation Insight: The system applies equal-width discretization so numeric age values can be used by ID3.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2179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FDBFE"/>
                </a:solidFill>
                <a:latin typeface="Consolas"/>
              </a:defRPr>
            </a:pPr>
            <a:r>
              <a:t>06/09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FDBFE"/>
                </a:solidFill>
                <a:latin typeface="Aptos"/>
              </a:defRPr>
            </a:pPr>
            <a:r>
              <a:t>SLIDE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ptos Display"/>
              </a:defRPr>
            </a:pPr>
            <a:r>
              <a:t>Preprocessing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FDBFE"/>
                </a:solidFill>
                <a:latin typeface="Aptos"/>
              </a:defRPr>
            </a:pPr>
            <a:r>
              <a:t>Cleaning and Preparing the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59152"/>
            <a:ext cx="10835640" cy="3657600"/>
          </a:xfrm>
          <a:prstGeom prst="roundRect">
            <a:avLst/>
          </a:prstGeom>
          <a:solidFill>
            <a:srgbClr val="111827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33472"/>
            <a:ext cx="10241280" cy="3063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Missing Value Handling: Null or empty fields are detected and filled using mode imputation.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Normalization: Numeric columns can be scaled to keep values comparable.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Discretization: Continuous values like Age are converted into categorical bins.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Audit Trail: The application logs each preprocessing action so the workflow can be explained clearly.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2179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FDBFE"/>
                </a:solidFill>
                <a:latin typeface="Consolas"/>
              </a:defRPr>
            </a:pPr>
            <a:r>
              <a:t>07/09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FDBFE"/>
                </a:solidFill>
                <a:latin typeface="Aptos"/>
              </a:defRPr>
            </a:pPr>
            <a:r>
              <a:t>SLIDE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ptos Display"/>
              </a:defRPr>
            </a:pPr>
            <a:r>
              <a:t>Visualization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FDBFE"/>
                </a:solidFill>
                <a:latin typeface="Aptos"/>
              </a:defRPr>
            </a:pPr>
            <a:r>
              <a:t>From Model Output to Visual Explanation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59152"/>
            <a:ext cx="10835640" cy="3657600"/>
          </a:xfrm>
          <a:prstGeom prst="roundRect">
            <a:avLst/>
          </a:prstGeom>
          <a:solidFill>
            <a:srgbClr val="111827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33472"/>
            <a:ext cx="10241280" cy="3063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Weather Tree: Outlook appears as the root and branches into Humidity and Wind.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Titanic Tree: Attributes such as Sex show a strong relationship with survival outcomes.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Preprocessing Log: The interface records cleaning and discretization steps as an audit trail.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Presentation Value: The visual layer makes the algorithm easier to understand than raw tables alone.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2179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FDBFE"/>
                </a:solidFill>
                <a:latin typeface="Consolas"/>
              </a:defRPr>
            </a:pPr>
            <a:r>
              <a:t>08/09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FDBFE"/>
                </a:solidFill>
                <a:latin typeface="Aptos"/>
              </a:defRPr>
            </a:pPr>
            <a:r>
              <a:t>SLIDE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ptos Display"/>
              </a:defRPr>
            </a:pPr>
            <a:r>
              <a:t>Project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FDBFE"/>
                </a:solidFill>
                <a:latin typeface="Aptos"/>
              </a:defRPr>
            </a:pPr>
            <a:r>
              <a:t>From Technical Report to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59152"/>
            <a:ext cx="10835640" cy="3657600"/>
          </a:xfrm>
          <a:prstGeom prst="roundRect">
            <a:avLst/>
          </a:prstGeom>
          <a:solidFill>
            <a:srgbClr val="111827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33472"/>
            <a:ext cx="10241280" cy="3063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The ID3 Visual Explorer bridges the gap between raw data and interpretable machine learning.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It combines a recursive algorithm, preprocessing utilities, and interactive graphics in one dashboard.</a:t>
            </a:r>
          </a:p>
          <a:p>
            <a:pPr>
              <a:spcAft>
                <a:spcPts val="800"/>
              </a:spcAft>
              <a:defRPr sz="1800">
                <a:solidFill>
                  <a:srgbClr val="E2E8F0"/>
                </a:solidFill>
                <a:latin typeface="Aptos"/>
              </a:defRPr>
            </a:pPr>
            <a:r>
              <a:t>- The presentation now follows the structure of report.html while also explaining the program used and the implementation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62179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FDBFE"/>
                </a:solidFill>
                <a:latin typeface="Consolas"/>
              </a:defRPr>
            </a:pPr>
            <a:r>
              <a:t>09/09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